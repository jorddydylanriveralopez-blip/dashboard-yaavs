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3" r:id="rId3"/>
    <p:sldId id="274" r:id="rId4"/>
    <p:sldId id="275" r:id="rId5"/>
    <p:sldId id="276" r:id="rId6"/>
    <p:sldId id="277" r:id="rId7"/>
    <p:sldId id="271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6"/>
  </p:normalViewPr>
  <p:slideViewPr>
    <p:cSldViewPr snapToGrid="0">
      <p:cViewPr varScale="1">
        <p:scale>
          <a:sx n="121" d="100"/>
          <a:sy n="121" d="100"/>
        </p:scale>
        <p:origin x="7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1D8B3-D66F-9D03-C833-67325247D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E190F66-B154-C1D5-D3D3-9839613D9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86D980-8628-CA2A-56AD-F97C789A8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19B53A-E5AD-A987-250E-0D9C64BF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D02F5F-116E-869B-78C2-7308A77D1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66715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8791FB-1DE7-BC09-1B47-02941FD9F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36732-C013-64EB-2D6D-025B2ECD0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28CF4B-E777-45BB-2C45-F3185FB40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BF0E28-45AB-AB77-5FC7-B3FF5898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4E22F9-2BA4-C4BB-8064-697F76CA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06806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27D8E-827D-8E3E-CA5D-0ADC51CA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DD4812-D58D-F69D-0A47-623A94457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307DE7-5D3B-DA13-F66F-DD81D489C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CA75D7-5E19-E4DF-B17A-DE872113C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1896FE-575E-4803-C7D2-01458EAE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74168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5BF4B-8309-5ED9-0DC6-A57CFFB4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BA82D92-B038-24D4-99A2-111A8D19D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AF172A-46B6-81D4-2D80-168949A40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051F8B6-7767-4738-E3A4-D644139FB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017566-3F97-4136-9322-E500D1807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11321A-9885-014C-CC50-8ECD6088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9207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3E366-72F1-7D6C-9E0E-4C6DC5C45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E9B0342-2785-090A-B650-3179CC4E9C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6DD7F75-4D56-69B0-B280-8ECD07A44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8F743B-805D-97DD-310E-1AD1BC19F1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FF5A99-9C73-5545-3882-63B273576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B9FB152-CBA1-FC74-FFEE-B32F05AA8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8135224-24C1-20B2-236A-1A922A0A9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0257B26-3427-8704-A6A0-F5FFF6B08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7942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7A3C92-6C18-D382-4236-AD33E4240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3FCFFF2-D870-CBB6-2006-31924F27C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8997A2-C20F-B59A-D6DC-EC367CFEA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B979C77-6665-99C9-16BF-1CEA8FC39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02831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79ECF7-32BB-9723-A042-599328D4E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618B55-9F39-090E-FAAB-820986300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BA6DA6-A2AB-2BD6-D13B-B224D154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7456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44869A-77CC-F19F-C6EC-6BD80F281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90ECBB-045C-6CBB-1E90-1CBF85891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D3FA88B-EDA0-CACC-FB4B-B39DFFB365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D411B9-6CBC-A65E-0EB2-5578DDD9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7BD021-3C4C-4EB8-2EB4-C4F4E0906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25814A1-0333-9D73-938A-688D7D79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79005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5CC6D-3227-39FE-EEBF-0A40459E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40C4BFC-DE98-15BE-6AF5-97BC28BD89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E620DA-11BB-2140-273F-7C2FAFB73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22FAF86-23D9-9D3B-B31F-447F8EFC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BCC083-92EC-5C2B-1A8C-B2843AFCE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1EE716-4B43-524A-0892-9A6813119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0838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0F8F0-D54F-E6A0-C37D-BC0EEC0B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4FA6A4-0510-EAD0-CDAB-300E1A1A7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EDFE82-ED2C-1C5E-7C0E-3ADF0E50B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DD93EA-F7B6-F13C-D155-0C0EE56B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30BD02-25DB-24BD-30C7-C8A1AF01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56148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051FA78-0D13-B624-1505-6B11C44DBB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EFC531-57E1-4960-8598-8EC4B593E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0CE7F7-166F-A0D9-CA9B-C44EB1F28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5DDED-A7D8-2891-0532-E4FD5ACF8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83B264-EBD8-0DC4-316D-3509EBDD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9508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927A6FE2-658B-5D1E-A02B-D49F453E3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141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A7EE55-74EA-C02B-28E1-4B768B519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2A0F236-9E08-D184-0016-88B5982D0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1310D1-AD3D-B3D3-10E2-F2F07F462A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EC4B82-FE36-FF42-9177-073E8C00A484}" type="datetimeFigureOut">
              <a:rPr lang="es-MX" smtClean="0"/>
              <a:t>22/07/26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E90DF2-53A2-BEE4-9231-FDF3D9198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DAEEB-939E-D7E8-8D06-32B8891DE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2CDD55-F12F-C74C-B75E-E0CE479C57D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8989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ktok.com/@yaavsmx/video/7466134588461550854" TargetMode="External"/><Relationship Id="rId2" Type="http://schemas.openxmlformats.org/officeDocument/2006/relationships/hyperlink" Target="https://www.tiktok.com/@yaavsmx/video/7494052483757575430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mx.pinterest.com/pin/1150529036067893217/" TargetMode="External"/><Relationship Id="rId4" Type="http://schemas.openxmlformats.org/officeDocument/2006/relationships/hyperlink" Target="https://mx.pinterest.com/pin/1150529036067892927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ktok.com/@yaavsmx/video/7509585717446659329" TargetMode="External"/><Relationship Id="rId7" Type="http://schemas.openxmlformats.org/officeDocument/2006/relationships/hyperlink" Target="https://mx.pinterest.com/pin/1143210686687626592/" TargetMode="External"/><Relationship Id="rId2" Type="http://schemas.openxmlformats.org/officeDocument/2006/relationships/hyperlink" Target="https://www.tiktok.com/@yaavsmx/video/7541072223772118273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mx.pinterest.com/pin/953918764891450154/" TargetMode="External"/><Relationship Id="rId5" Type="http://schemas.openxmlformats.org/officeDocument/2006/relationships/hyperlink" Target="https://mx.pinterest.com/pin/1132373900074949952/" TargetMode="External"/><Relationship Id="rId4" Type="http://schemas.openxmlformats.org/officeDocument/2006/relationships/hyperlink" Target="https://mx.pinterest.com/pin/1150529036067893217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x.pinterest.com/pin/1150529036067893217/" TargetMode="Externa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x.pinterest.com/pin/1150529036067893217/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AEA64F6-D0BA-3D68-8C2B-E881C0560D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485" b="452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72F768E-30B2-A3A7-64BB-2186970E076C}"/>
              </a:ext>
            </a:extLst>
          </p:cNvPr>
          <p:cNvSpPr txBox="1"/>
          <p:nvPr/>
        </p:nvSpPr>
        <p:spPr>
          <a:xfrm>
            <a:off x="10372310" y="5857980"/>
            <a:ext cx="172754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MX" b="1">
                <a:solidFill>
                  <a:schemeClr val="bg1"/>
                </a:solidFill>
                <a:effectLst/>
              </a:rPr>
              <a:t>AUDIOVISUAL</a:t>
            </a:r>
          </a:p>
          <a:p>
            <a:pPr algn="l" rtl="0"/>
            <a:r>
              <a:rPr lang="es-MX" sz="2000" b="1">
                <a:solidFill>
                  <a:schemeClr val="bg1"/>
                </a:solidFill>
              </a:rPr>
              <a:t>JESÚS</a:t>
            </a:r>
            <a:endParaRPr lang="es-MX" sz="2000" b="1" dirty="0">
              <a:solidFill>
                <a:schemeClr val="bg1"/>
              </a:solidFill>
              <a:effectLst/>
            </a:endParaRP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0620726-4ACB-4EB9-754C-369E57070DAD}"/>
              </a:ext>
            </a:extLst>
          </p:cNvPr>
          <p:cNvCxnSpPr/>
          <p:nvPr/>
        </p:nvCxnSpPr>
        <p:spPr>
          <a:xfrm>
            <a:off x="10271052" y="5773479"/>
            <a:ext cx="0" cy="89313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26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B7C23-99FE-0980-1391-F269FC8A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3BA6DB-08D3-DC04-16F6-1456318A816B}"/>
              </a:ext>
            </a:extLst>
          </p:cNvPr>
          <p:cNvSpPr txBox="1"/>
          <p:nvPr/>
        </p:nvSpPr>
        <p:spPr>
          <a:xfrm>
            <a:off x="242906" y="1324246"/>
            <a:ext cx="42461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buNone/>
            </a:pPr>
            <a:r>
              <a:rPr lang="es-MX" sz="4400">
                <a:solidFill>
                  <a:srgbClr val="002060"/>
                </a:solidFill>
                <a:effectLst/>
              </a:rPr>
              <a:t>Objetivo General</a:t>
            </a:r>
            <a:endParaRPr lang="es-MX" sz="44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B69B41-F355-7E07-1591-BBB727782E59}"/>
              </a:ext>
            </a:extLst>
          </p:cNvPr>
          <p:cNvSpPr txBox="1"/>
          <p:nvPr/>
        </p:nvSpPr>
        <p:spPr>
          <a:xfrm>
            <a:off x="664502" y="2697453"/>
            <a:ext cx="81116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>
                <a:solidFill>
                  <a:srgbClr val="002060"/>
                </a:solidFill>
              </a:rPr>
              <a:t>- FORTALECER EL POSICIONAMIENTO DE YAAVS EN REDES SOCIALES, TENIENDO EN CUENTA LA NUEVA LINEA GRAFICA.</a:t>
            </a:r>
          </a:p>
          <a:p>
            <a:endParaRPr lang="es-MX" sz="1100" b="1">
              <a:solidFill>
                <a:srgbClr val="00206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DABD817-309D-5BFF-9AD8-320DA98637E5}"/>
              </a:ext>
            </a:extLst>
          </p:cNvPr>
          <p:cNvSpPr txBox="1"/>
          <p:nvPr/>
        </p:nvSpPr>
        <p:spPr>
          <a:xfrm>
            <a:off x="210200" y="210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/>
              <a:t>Way of Working Levantamiento Audiovisual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2474A2B-EE99-AD18-FA67-090EB55EF0C1}"/>
              </a:ext>
            </a:extLst>
          </p:cNvPr>
          <p:cNvSpPr txBox="1"/>
          <p:nvPr/>
        </p:nvSpPr>
        <p:spPr>
          <a:xfrm>
            <a:off x="433276" y="1878244"/>
            <a:ext cx="81116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1100" b="1">
              <a:solidFill>
                <a:srgbClr val="002060"/>
              </a:solidFill>
            </a:endParaRPr>
          </a:p>
          <a:p>
            <a:endParaRPr lang="es-MX" sz="1100" b="1">
              <a:solidFill>
                <a:srgbClr val="002060"/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153B5B5-A76F-036D-1E20-A5EE3D784A54}"/>
              </a:ext>
            </a:extLst>
          </p:cNvPr>
          <p:cNvSpPr txBox="1"/>
          <p:nvPr/>
        </p:nvSpPr>
        <p:spPr>
          <a:xfrm>
            <a:off x="664502" y="2396794"/>
            <a:ext cx="76491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>
                <a:solidFill>
                  <a:srgbClr val="002060"/>
                </a:solidFill>
              </a:rPr>
              <a:t>- ATRAER NUEVOS CLIENTES QUE LA GENTE VEA EL QUE HAGO, COMO LO HAGO Y POR QUE LO HAGO.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6D8C2D8-A419-163A-5684-3D7C8A725848}"/>
              </a:ext>
            </a:extLst>
          </p:cNvPr>
          <p:cNvSpPr txBox="1"/>
          <p:nvPr/>
        </p:nvSpPr>
        <p:spPr>
          <a:xfrm>
            <a:off x="664503" y="2997535"/>
            <a:ext cx="76491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>
                <a:solidFill>
                  <a:srgbClr val="002060"/>
                </a:solidFill>
              </a:rPr>
              <a:t>- GENERAR CONFIANZA, CERCANIA, AUTORIDAD Y QUE LA GENTE ME PERCIBA COMO LÍDER EN EL RAMO.</a:t>
            </a:r>
            <a:endParaRPr lang="es-MX" sz="1100"/>
          </a:p>
        </p:txBody>
      </p:sp>
    </p:spTree>
    <p:extLst>
      <p:ext uri="{BB962C8B-B14F-4D97-AF65-F5344CB8AC3E}">
        <p14:creationId xmlns:p14="http://schemas.microsoft.com/office/powerpoint/2010/main" val="1558402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171B-90F0-8A9F-762A-00B1B85A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3EB8C04-FC65-9D81-48E4-00C300EC99AF}"/>
              </a:ext>
            </a:extLst>
          </p:cNvPr>
          <p:cNvSpPr txBox="1"/>
          <p:nvPr/>
        </p:nvSpPr>
        <p:spPr>
          <a:xfrm>
            <a:off x="433277" y="628724"/>
            <a:ext cx="71446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400">
                <a:solidFill>
                  <a:srgbClr val="002060"/>
                </a:solidFill>
              </a:rPr>
              <a:t>ESTRATEGIA AUDIOVISUAL</a:t>
            </a:r>
          </a:p>
          <a:p>
            <a:endParaRPr lang="es-MX" sz="4400">
              <a:solidFill>
                <a:srgbClr val="002060"/>
              </a:solidFill>
            </a:endParaRPr>
          </a:p>
          <a:p>
            <a:pPr algn="l" rtl="0">
              <a:buNone/>
            </a:pPr>
            <a:endParaRPr lang="es-MX" sz="44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121B92E-67D6-EE95-25CD-1857608B251C}"/>
              </a:ext>
            </a:extLst>
          </p:cNvPr>
          <p:cNvSpPr txBox="1"/>
          <p:nvPr/>
        </p:nvSpPr>
        <p:spPr>
          <a:xfrm>
            <a:off x="433277" y="1631577"/>
            <a:ext cx="3318916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>
                <a:solidFill>
                  <a:srgbClr val="002060"/>
                </a:solidFill>
              </a:rPr>
              <a:t>REDES SOCIALES (Facebook, Instagram y Tik Tok)</a:t>
            </a:r>
          </a:p>
          <a:p>
            <a:r>
              <a:rPr lang="es-MX" sz="1100" b="1">
                <a:solidFill>
                  <a:srgbClr val="002060"/>
                </a:solidFill>
              </a:rPr>
              <a:t>TIPOS DE CONTENIDO: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 CONTENIDO EDUCATIVO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 Activaciones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Los 5 errores más comunes al activar un chip.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¿Qué hacer si una activación falla?</a:t>
            </a:r>
          </a:p>
          <a:p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 Portabilidades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Beneficios de hacer una portabilidad.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Tips para vender más portabilidades.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 eSIM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Ventajas frente al chip físico.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Cómo instalar una eSIM.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 Recargas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Cómo hacer una recarga correctamente.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Beneficios de ofrecer recargas.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265A750-0287-6D99-2160-9018C4AD9885}"/>
              </a:ext>
            </a:extLst>
          </p:cNvPr>
          <p:cNvSpPr txBox="1"/>
          <p:nvPr/>
        </p:nvSpPr>
        <p:spPr>
          <a:xfrm>
            <a:off x="210200" y="210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/>
              <a:t>Way of Working Levantamiento Audiovisual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9159461-13AC-9408-D49C-E5EFBA801D63}"/>
              </a:ext>
            </a:extLst>
          </p:cNvPr>
          <p:cNvSpPr txBox="1"/>
          <p:nvPr/>
        </p:nvSpPr>
        <p:spPr>
          <a:xfrm>
            <a:off x="4647923" y="1631577"/>
            <a:ext cx="46011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LO QUE SE HA PUBLICADO EN LAS REDES DE YAAVS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400" b="1">
              <a:highlight>
                <a:srgbClr val="0000FF"/>
              </a:highlight>
            </a:endParaRPr>
          </a:p>
          <a:p>
            <a:r>
              <a:rPr lang="es-MX" sz="1100" b="1">
                <a:hlinkClick r:id="rId2"/>
              </a:rPr>
              <a:t>https://www.tiktok.com/@yaavsmx/video/7494052483757575430</a:t>
            </a:r>
            <a:endParaRPr lang="es-MX" sz="1100" b="1"/>
          </a:p>
          <a:p>
            <a:r>
              <a:rPr lang="es-MX" sz="1100" b="1">
                <a:hlinkClick r:id="rId2"/>
              </a:rPr>
              <a:t>https://www.tiktok.com/@yaavsmx/video/7494052483757575430</a:t>
            </a:r>
            <a:endParaRPr lang="es-MX" sz="1100" b="1"/>
          </a:p>
          <a:p>
            <a:r>
              <a:rPr lang="es-MX" sz="1100" b="1">
                <a:hlinkClick r:id="rId3"/>
              </a:rPr>
              <a:t>https://www.tiktok.com/@yaavsmx/video/7466134588461550854</a:t>
            </a:r>
            <a:endParaRPr lang="es-MX" sz="1100" b="1"/>
          </a:p>
          <a:p>
            <a:endParaRPr lang="es-MX" sz="1100" b="1">
              <a:highlight>
                <a:srgbClr val="0000FF"/>
              </a:highligh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ED21F2-36AE-E663-B6E4-72D5023B0A7E}"/>
              </a:ext>
            </a:extLst>
          </p:cNvPr>
          <p:cNvSpPr txBox="1"/>
          <p:nvPr/>
        </p:nvSpPr>
        <p:spPr>
          <a:xfrm>
            <a:off x="4647922" y="3051484"/>
            <a:ext cx="4601177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TENIENDO EN CUENTA EL CONTENIDO QUE SE HA PUBLICADO, LA PROPUESTA ES MANTENER LA MISMA LÍNEA DE COMUNICACIÓN, PERO INCORPORANDO ANIMACIONES MÁS DINÁMICAS PARA LOGRAR UN MAYOR IMPACTO VISUAL Y CAPTAR LA ATENCIÓN DEL PÚBLICO.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400" b="1">
              <a:highlight>
                <a:srgbClr val="0000FF"/>
              </a:highlight>
            </a:endParaRPr>
          </a:p>
          <a:p>
            <a:r>
              <a:rPr lang="es-MX" sz="1100" b="1">
                <a:hlinkClick r:id="rId4"/>
              </a:rPr>
              <a:t>https://mx.pinterest.com/pin/1150529036067892927/</a:t>
            </a:r>
            <a:endParaRPr lang="es-MX" sz="1100" b="1"/>
          </a:p>
          <a:p>
            <a:r>
              <a:rPr lang="es-MX" sz="1100" b="1">
                <a:hlinkClick r:id="rId5"/>
              </a:rPr>
              <a:t>https://mx.pinterest.com/pin/1150529036067893217/</a:t>
            </a:r>
            <a:endParaRPr lang="es-MX" sz="1100" b="1"/>
          </a:p>
          <a:p>
            <a:endParaRPr lang="es-MX" sz="1100" b="1"/>
          </a:p>
        </p:txBody>
      </p:sp>
    </p:spTree>
    <p:extLst>
      <p:ext uri="{BB962C8B-B14F-4D97-AF65-F5344CB8AC3E}">
        <p14:creationId xmlns:p14="http://schemas.microsoft.com/office/powerpoint/2010/main" val="1151785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4FB9-895F-E087-E041-F9E341C8D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DF0DB5C-9B24-4147-E3DD-34FB0F74A5F2}"/>
              </a:ext>
            </a:extLst>
          </p:cNvPr>
          <p:cNvSpPr txBox="1"/>
          <p:nvPr/>
        </p:nvSpPr>
        <p:spPr>
          <a:xfrm>
            <a:off x="433277" y="628724"/>
            <a:ext cx="71446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400">
                <a:solidFill>
                  <a:srgbClr val="002060"/>
                </a:solidFill>
              </a:rPr>
              <a:t>ESTRATEGIA AUDIOVISUAL</a:t>
            </a:r>
          </a:p>
          <a:p>
            <a:endParaRPr lang="es-MX" sz="4400">
              <a:solidFill>
                <a:srgbClr val="002060"/>
              </a:solidFill>
            </a:endParaRPr>
          </a:p>
          <a:p>
            <a:pPr algn="l" rtl="0">
              <a:buNone/>
            </a:pPr>
            <a:endParaRPr lang="es-MX" sz="44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4BD9773-97A1-5279-3D93-4551E734BF92}"/>
              </a:ext>
            </a:extLst>
          </p:cNvPr>
          <p:cNvSpPr txBox="1"/>
          <p:nvPr/>
        </p:nvSpPr>
        <p:spPr>
          <a:xfrm>
            <a:off x="433277" y="1631577"/>
            <a:ext cx="331891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>
                <a:solidFill>
                  <a:srgbClr val="002060"/>
                </a:solidFill>
              </a:rPr>
              <a:t>REDES SOCIALES (Facebook, Instagram y Tik Tok)</a:t>
            </a:r>
          </a:p>
          <a:p>
            <a:r>
              <a:rPr lang="es-MX" sz="1100" b="1">
                <a:solidFill>
                  <a:srgbClr val="002060"/>
                </a:solidFill>
              </a:rPr>
              <a:t>TIPOS DE CONTENIDO: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 CONTENIDO COMERCIAL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 Antes y después</a:t>
            </a:r>
            <a:r>
              <a:rPr lang="es-MX" sz="1100">
                <a:solidFill>
                  <a:srgbClr val="002060"/>
                </a:solidFill>
              </a:rPr>
              <a:t> de rotulaciones de puntos de venta.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Inauguración</a:t>
            </a:r>
            <a:r>
              <a:rPr lang="es-MX" sz="1100">
                <a:solidFill>
                  <a:srgbClr val="002060"/>
                </a:solidFill>
              </a:rPr>
              <a:t> de nuevos puntos de venta.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Historias de crecimiento</a:t>
            </a:r>
            <a:r>
              <a:rPr lang="es-MX" sz="1100">
                <a:solidFill>
                  <a:srgbClr val="002060"/>
                </a:solidFill>
              </a:rPr>
              <a:t> de distribuidores.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Entrega de premios</a:t>
            </a:r>
            <a:r>
              <a:rPr lang="es-MX" sz="1100">
                <a:solidFill>
                  <a:srgbClr val="002060"/>
                </a:solidFill>
              </a:rPr>
              <a:t> y reconocimientos.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0F8CB0-21E4-4E02-D243-56C0289A3916}"/>
              </a:ext>
            </a:extLst>
          </p:cNvPr>
          <p:cNvSpPr txBox="1"/>
          <p:nvPr/>
        </p:nvSpPr>
        <p:spPr>
          <a:xfrm>
            <a:off x="210200" y="210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/>
              <a:t>Way of Working Levantamiento Audiovisual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B8A44C0-C4A5-3686-3599-C653CD8A4503}"/>
              </a:ext>
            </a:extLst>
          </p:cNvPr>
          <p:cNvSpPr txBox="1"/>
          <p:nvPr/>
        </p:nvSpPr>
        <p:spPr>
          <a:xfrm>
            <a:off x="4647923" y="1631577"/>
            <a:ext cx="4601177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LO QUE SE HA PUBLICADO EN LAS REDES DE YAAVS</a:t>
            </a:r>
          </a:p>
          <a:p>
            <a:endParaRPr lang="es-MX" sz="1100" b="1">
              <a:highlight>
                <a:srgbClr val="0000FF"/>
              </a:highlight>
            </a:endParaRPr>
          </a:p>
          <a:p>
            <a:r>
              <a:rPr lang="es-MX" sz="1100" b="1">
                <a:hlinkClick r:id="rId2"/>
              </a:rPr>
              <a:t>https://www.tiktok.com/@yaavsmx/video/7541072223772118273</a:t>
            </a:r>
            <a:endParaRPr lang="es-MX" sz="1100" b="1"/>
          </a:p>
          <a:p>
            <a:r>
              <a:rPr lang="es-MX" sz="1100" b="1">
                <a:hlinkClick r:id="rId3"/>
              </a:rPr>
              <a:t>https://www.tiktok.com/@yaavsmx/video/7509585717446659329</a:t>
            </a:r>
            <a:endParaRPr lang="es-MX" sz="1100" b="1"/>
          </a:p>
          <a:p>
            <a:r>
              <a:rPr lang="es-MX" sz="1100" b="1">
                <a:hlinkClick r:id="rId4"/>
              </a:rPr>
              <a:t>https://www.tiktok.com/@yaavsmx/video/7344063064754392326</a:t>
            </a:r>
          </a:p>
          <a:p>
            <a:r>
              <a:rPr lang="es-MX" sz="1100" b="1">
                <a:hlinkClick r:id="rId4"/>
              </a:rPr>
              <a:t>https://www.tiktok.com/@yaavsmx/video/7479524044807671045</a:t>
            </a:r>
          </a:p>
          <a:p>
            <a:endParaRPr lang="es-MX" sz="1100" b="1"/>
          </a:p>
          <a:p>
            <a:endParaRPr lang="es-MX" sz="1100" b="1"/>
          </a:p>
          <a:p>
            <a:endParaRPr lang="es-MX" sz="1100" b="1">
              <a:highlight>
                <a:srgbClr val="0000FF"/>
              </a:highlight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4308E94-C699-401A-41BE-057816FBFC31}"/>
              </a:ext>
            </a:extLst>
          </p:cNvPr>
          <p:cNvSpPr txBox="1"/>
          <p:nvPr/>
        </p:nvSpPr>
        <p:spPr>
          <a:xfrm>
            <a:off x="4647922" y="3051484"/>
            <a:ext cx="4601177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LA PROPUESTA ES INCORPORAR ANIMACIONES MÁS DINÁMICAS PARA LOGRAR UN MAYOR IMPACTO VISUAL (LOS QUE ANEXO EN ESTE APARTADO NO ESTAN DE MAS GRABALOS CON LA CONTENT CREATOR)</a:t>
            </a:r>
          </a:p>
          <a:p>
            <a:endParaRPr lang="es-MX" sz="1400" b="1">
              <a:solidFill>
                <a:schemeClr val="bg1"/>
              </a:solidFill>
              <a:highlight>
                <a:srgbClr val="0000FF"/>
              </a:highlight>
              <a:hlinkClick r:id="rId5"/>
            </a:endParaRPr>
          </a:p>
          <a:p>
            <a:r>
              <a:rPr lang="es-MX" sz="1100" b="1">
                <a:hlinkClick r:id="rId5"/>
              </a:rPr>
              <a:t>https://mx.pinterest.com/pin/1132373900074949952/</a:t>
            </a:r>
            <a:endParaRPr lang="es-MX" sz="1100" b="1"/>
          </a:p>
          <a:p>
            <a:r>
              <a:rPr lang="es-MX" sz="1100" b="1">
                <a:hlinkClick r:id="rId6"/>
              </a:rPr>
              <a:t>https://mx.pinterest.com/pin/953918764891450154/</a:t>
            </a:r>
            <a:endParaRPr lang="es-MX" sz="1100" b="1"/>
          </a:p>
          <a:p>
            <a:r>
              <a:rPr lang="es-MX" sz="1100" b="1">
                <a:hlinkClick r:id="rId7"/>
              </a:rPr>
              <a:t>https://mx.pinterest.com/pin/1143210686687626592/</a:t>
            </a:r>
            <a:endParaRPr lang="es-MX" sz="1100" b="1"/>
          </a:p>
          <a:p>
            <a:endParaRPr lang="es-MX" sz="1100" b="1"/>
          </a:p>
          <a:p>
            <a:endParaRPr lang="es-MX" sz="1100" b="1"/>
          </a:p>
          <a:p>
            <a:endParaRPr lang="es-MX" sz="1100" b="1"/>
          </a:p>
        </p:txBody>
      </p:sp>
    </p:spTree>
    <p:extLst>
      <p:ext uri="{BB962C8B-B14F-4D97-AF65-F5344CB8AC3E}">
        <p14:creationId xmlns:p14="http://schemas.microsoft.com/office/powerpoint/2010/main" val="279864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4DE68-C45B-74CA-0543-0B50C8FF4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BAF0E2B-43A7-2F8F-814B-11408CA2825E}"/>
              </a:ext>
            </a:extLst>
          </p:cNvPr>
          <p:cNvSpPr txBox="1"/>
          <p:nvPr/>
        </p:nvSpPr>
        <p:spPr>
          <a:xfrm>
            <a:off x="433277" y="628724"/>
            <a:ext cx="714468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400">
                <a:solidFill>
                  <a:srgbClr val="002060"/>
                </a:solidFill>
              </a:rPr>
              <a:t>ESTRATEGIA AUDIOVISUAL</a:t>
            </a:r>
          </a:p>
          <a:p>
            <a:endParaRPr lang="es-MX" sz="4400">
              <a:solidFill>
                <a:srgbClr val="002060"/>
              </a:solidFill>
            </a:endParaRPr>
          </a:p>
          <a:p>
            <a:pPr algn="l" rtl="0">
              <a:buNone/>
            </a:pPr>
            <a:endParaRPr lang="es-MX" sz="4400" dirty="0">
              <a:solidFill>
                <a:srgbClr val="002060"/>
              </a:solidFill>
              <a:effectLst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AEE009E-D8FF-BD0A-790D-0A2433008CD6}"/>
              </a:ext>
            </a:extLst>
          </p:cNvPr>
          <p:cNvSpPr txBox="1"/>
          <p:nvPr/>
        </p:nvSpPr>
        <p:spPr>
          <a:xfrm>
            <a:off x="433277" y="1631577"/>
            <a:ext cx="3318916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>
                <a:solidFill>
                  <a:srgbClr val="002060"/>
                </a:solidFill>
              </a:rPr>
              <a:t>REDES SOCIALES (Facebook, Instagram y Tik Tok)</a:t>
            </a:r>
          </a:p>
          <a:p>
            <a:r>
              <a:rPr lang="es-MX" sz="1100" b="1">
                <a:solidFill>
                  <a:srgbClr val="002060"/>
                </a:solidFill>
              </a:rPr>
              <a:t>TIPOS DE CONTENIDO: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 DINAMICAS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100" b="1">
              <a:solidFill>
                <a:srgbClr val="00206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Concursos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1100" b="1">
                <a:solidFill>
                  <a:srgbClr val="002060"/>
                </a:solidFill>
              </a:rPr>
              <a:t>Trivias y encuestas interactivas: generar participación de la comunidad mediante preguntas en redes sociales que se respondan días después. Por ejemplo: </a:t>
            </a:r>
            <a:r>
              <a:rPr lang="es-MX" sz="1100" b="1" i="1">
                <a:solidFill>
                  <a:srgbClr val="002060"/>
                </a:solidFill>
              </a:rPr>
              <a:t>¿Qué tema te gustaría que abordáramos esta semana?"</a:t>
            </a:r>
            <a:r>
              <a:rPr lang="es-MX" sz="1100" b="1">
                <a:solidFill>
                  <a:srgbClr val="002060"/>
                </a:solidFill>
              </a:rPr>
              <a:t> o </a:t>
            </a:r>
            <a:r>
              <a:rPr lang="es-MX" sz="1100" b="1" i="1">
                <a:solidFill>
                  <a:srgbClr val="002060"/>
                </a:solidFill>
              </a:rPr>
              <a:t>"¿Sabes cuál es la respuesta a esta pregunta?"</a:t>
            </a:r>
            <a:r>
              <a:rPr lang="es-MX" sz="1100" b="1">
                <a:solidFill>
                  <a:srgbClr val="002060"/>
                </a:solidFill>
              </a:rPr>
              <a:t>. La dinámica inicia el lunes y la respuesta o explicación se publica el viernes, incentivando la interacción y el regreso de la audiencia.</a:t>
            </a:r>
          </a:p>
          <a:p>
            <a:endParaRPr lang="es-MX" sz="1100" b="1">
              <a:solidFill>
                <a:srgbClr val="002060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FDEC147-D1CE-2F49-0983-8000BA7C54FA}"/>
              </a:ext>
            </a:extLst>
          </p:cNvPr>
          <p:cNvSpPr txBox="1"/>
          <p:nvPr/>
        </p:nvSpPr>
        <p:spPr>
          <a:xfrm>
            <a:off x="210200" y="210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/>
              <a:t>Way of Working Levantamiento Audiovisual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D349BC-EE2F-71F8-F3A0-8199F254D5C7}"/>
              </a:ext>
            </a:extLst>
          </p:cNvPr>
          <p:cNvSpPr txBox="1"/>
          <p:nvPr/>
        </p:nvSpPr>
        <p:spPr>
          <a:xfrm>
            <a:off x="4647922" y="1690553"/>
            <a:ext cx="4601177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LA PROPUESTA ES NO SOLO CENTRASE EN LA VENTA SI NO DARLE UN GIRO MAS DINÁMICO, AUMENTAR LA INTERACCIÓN Y FORTALECER LA RELACIÓN CON LA AUDIENCIA</a:t>
            </a:r>
            <a:r>
              <a:rPr lang="es-MX" sz="1400">
                <a:solidFill>
                  <a:schemeClr val="bg1"/>
                </a:solidFill>
                <a:highlight>
                  <a:srgbClr val="0000FF"/>
                </a:highlight>
              </a:rPr>
              <a:t>. </a:t>
            </a:r>
            <a:endParaRPr lang="es-MX" sz="1400" b="1">
              <a:solidFill>
                <a:schemeClr val="bg1"/>
              </a:solidFill>
              <a:highlight>
                <a:srgbClr val="0000FF"/>
              </a:highlight>
            </a:endParaRPr>
          </a:p>
          <a:p>
            <a:endParaRPr lang="es-MX" sz="1400" b="1">
              <a:highlight>
                <a:srgbClr val="0000FF"/>
              </a:highlight>
            </a:endParaRPr>
          </a:p>
          <a:p>
            <a:r>
              <a:rPr lang="es-MX" sz="1100" b="1">
                <a:hlinkClick r:id="rId2"/>
              </a:rPr>
              <a:t>https://es.pinterest.com/pin/687150855628210682/</a:t>
            </a:r>
          </a:p>
          <a:p>
            <a:r>
              <a:rPr lang="es-MX" sz="1100" b="1">
                <a:hlinkClick r:id="rId2"/>
              </a:rPr>
              <a:t>https://es.pinterest.com/pin/90916486223598258/</a:t>
            </a:r>
          </a:p>
          <a:p>
            <a:r>
              <a:rPr lang="es-MX" sz="1100" b="1">
                <a:hlinkClick r:id="rId2"/>
              </a:rPr>
              <a:t>https://es.pinterest.com/pin/280138039316959580/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5ECCDD8-521A-F398-F6C9-F91C8CB5D6AB}"/>
              </a:ext>
            </a:extLst>
          </p:cNvPr>
          <p:cNvSpPr txBox="1"/>
          <p:nvPr/>
        </p:nvSpPr>
        <p:spPr>
          <a:xfrm>
            <a:off x="433277" y="4307630"/>
            <a:ext cx="460117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100" b="1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CONTENIDO TIPO SERIA: YAAVS Responde</a:t>
            </a:r>
          </a:p>
          <a:p>
            <a:r>
              <a:rPr lang="es-MX" sz="1100" b="1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Resolver una duda frecuente.</a:t>
            </a:r>
          </a:p>
          <a:p>
            <a:endParaRPr lang="es-MX" sz="1100" b="1">
              <a:solidFill>
                <a:srgbClr val="00206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MX" sz="1100" b="1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CONTENIDO TIPO SERIE: Detrás del Punto de Venta</a:t>
            </a:r>
          </a:p>
          <a:p>
            <a:r>
              <a:rPr lang="es-MX" sz="1100" b="1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Visitas a distribuidores.</a:t>
            </a:r>
          </a:p>
          <a:p>
            <a:endParaRPr lang="es-MX" sz="1100" b="1">
              <a:solidFill>
                <a:srgbClr val="00206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s-MX" sz="1100" b="1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CONTENIDO TIPO SERIE : Reto YAAVS</a:t>
            </a:r>
          </a:p>
          <a:p>
            <a:r>
              <a:rPr lang="es-MX" sz="1100" b="1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Pequeños desafíos para la comunidad.</a:t>
            </a:r>
          </a:p>
        </p:txBody>
      </p:sp>
    </p:spTree>
    <p:extLst>
      <p:ext uri="{BB962C8B-B14F-4D97-AF65-F5344CB8AC3E}">
        <p14:creationId xmlns:p14="http://schemas.microsoft.com/office/powerpoint/2010/main" val="192474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AC052-EDF4-AD4F-F265-2A3B4C28A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AE3B96F-CC4A-DEAC-6D77-9F52711C55B3}"/>
              </a:ext>
            </a:extLst>
          </p:cNvPr>
          <p:cNvSpPr txBox="1"/>
          <p:nvPr/>
        </p:nvSpPr>
        <p:spPr>
          <a:xfrm>
            <a:off x="433277" y="628724"/>
            <a:ext cx="714468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MX" sz="2400">
              <a:solidFill>
                <a:srgbClr val="002060"/>
              </a:solidFill>
            </a:endParaRPr>
          </a:p>
          <a:p>
            <a:r>
              <a:rPr lang="es-MX" sz="2400">
                <a:solidFill>
                  <a:srgbClr val="002060"/>
                </a:solidFill>
              </a:rPr>
              <a:t>MOTION GRAPHICS PARA VIDEOS DE PRODUCTOS</a:t>
            </a:r>
          </a:p>
          <a:p>
            <a:pPr algn="l" rtl="0">
              <a:buNone/>
            </a:pPr>
            <a:endParaRPr lang="es-MX" sz="4400" dirty="0">
              <a:solidFill>
                <a:srgbClr val="002060"/>
              </a:solidFill>
              <a:effectLst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79A852F-6F2D-3F27-61B3-77BABD1E2763}"/>
              </a:ext>
            </a:extLst>
          </p:cNvPr>
          <p:cNvSpPr txBox="1"/>
          <p:nvPr/>
        </p:nvSpPr>
        <p:spPr>
          <a:xfrm>
            <a:off x="210200" y="2102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800" b="1"/>
              <a:t>Way of Working Levantamiento Audiovisual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5A4C32-38C5-95BD-E165-510348D69CFD}"/>
              </a:ext>
            </a:extLst>
          </p:cNvPr>
          <p:cNvSpPr txBox="1"/>
          <p:nvPr/>
        </p:nvSpPr>
        <p:spPr>
          <a:xfrm>
            <a:off x="433277" y="1631577"/>
            <a:ext cx="4601177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LA PROPUESTA ES COMBINAR VIDEOS TIPO COMO LOS DE PINTEREST CON LOS QUE ESTAN PUBLICADOS </a:t>
            </a:r>
          </a:p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EN LAS REDES SOCIALES DE YAAVS TENIENDO EN CUENTA LA NUEVA LINEA GRAFICA </a:t>
            </a:r>
          </a:p>
          <a:p>
            <a:endParaRPr lang="es-MX" sz="1400" b="1">
              <a:highlight>
                <a:srgbClr val="0000FF"/>
              </a:highlight>
            </a:endParaRPr>
          </a:p>
          <a:p>
            <a:r>
              <a:rPr lang="es-MX" sz="1100" b="1">
                <a:hlinkClick r:id="rId2"/>
              </a:rPr>
              <a:t>https://mx.pinterest.com/pin/123497214779019749/</a:t>
            </a:r>
          </a:p>
          <a:p>
            <a:r>
              <a:rPr lang="es-MX" sz="1100" b="1">
                <a:hlinkClick r:id="rId2"/>
              </a:rPr>
              <a:t>https://mx.pinterest.com/pin/796644621615054491/</a:t>
            </a:r>
          </a:p>
          <a:p>
            <a:r>
              <a:rPr lang="es-MX" sz="1100" b="1">
                <a:hlinkClick r:id="rId2"/>
              </a:rPr>
              <a:t>https://mx.pinterest.com/pin/999447342313350717/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86DC123-F42A-3B7F-6399-6905EA1636FF}"/>
              </a:ext>
            </a:extLst>
          </p:cNvPr>
          <p:cNvSpPr txBox="1"/>
          <p:nvPr/>
        </p:nvSpPr>
        <p:spPr>
          <a:xfrm>
            <a:off x="6308560" y="1631577"/>
            <a:ext cx="46011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>
                <a:solidFill>
                  <a:schemeClr val="bg1"/>
                </a:solidFill>
                <a:highlight>
                  <a:srgbClr val="0000FF"/>
                </a:highlight>
              </a:rPr>
              <a:t>VIDEOS PUBLICADOS  EN LAS REDES SOCIALES DE YAAVS</a:t>
            </a:r>
            <a:endParaRPr lang="es-MX" sz="1400" b="1">
              <a:highlight>
                <a:srgbClr val="0000FF"/>
              </a:highlight>
            </a:endParaRPr>
          </a:p>
          <a:p>
            <a:r>
              <a:rPr lang="es-MX" sz="1100" b="1">
                <a:hlinkClick r:id="rId2"/>
              </a:rPr>
              <a:t>https://www.tiktok.com/@yaavsmx/video/7481817613916507447</a:t>
            </a:r>
          </a:p>
          <a:p>
            <a:r>
              <a:rPr lang="es-MX" sz="1100" b="1">
                <a:hlinkClick r:id="rId2"/>
              </a:rPr>
              <a:t>https://www.tiktok.com/@yaavsmx/video/7436057054650830136</a:t>
            </a:r>
          </a:p>
        </p:txBody>
      </p:sp>
    </p:spTree>
    <p:extLst>
      <p:ext uri="{BB962C8B-B14F-4D97-AF65-F5344CB8AC3E}">
        <p14:creationId xmlns:p14="http://schemas.microsoft.com/office/powerpoint/2010/main" val="1030358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717E-EDD7-3109-5909-763F835B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020E534-3CF8-7D1B-7B37-B5EE0ED8EB62}"/>
              </a:ext>
            </a:extLst>
          </p:cNvPr>
          <p:cNvSpPr txBox="1"/>
          <p:nvPr/>
        </p:nvSpPr>
        <p:spPr>
          <a:xfrm>
            <a:off x="1028699" y="2485919"/>
            <a:ext cx="980587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s-MX" sz="11500" b="1" i="0" cap="all" dirty="0">
                <a:solidFill>
                  <a:srgbClr val="002060"/>
                </a:solidFill>
                <a:effectLst/>
              </a:rPr>
              <a:t>gracias</a:t>
            </a:r>
            <a:endParaRPr lang="es-MX" sz="11500" cap="all" dirty="0">
              <a:solidFill>
                <a:srgbClr val="00206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749925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748</Words>
  <Application>Microsoft Macintosh PowerPoint</Application>
  <PresentationFormat>Panorámica</PresentationFormat>
  <Paragraphs>97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Orlando Villagómez Arredondo</dc:creator>
  <cp:lastModifiedBy>Grupo Yaavs</cp:lastModifiedBy>
  <cp:revision>2</cp:revision>
  <dcterms:created xsi:type="dcterms:W3CDTF">2026-07-16T20:07:55Z</dcterms:created>
  <dcterms:modified xsi:type="dcterms:W3CDTF">2026-07-22T20:14:17Z</dcterms:modified>
</cp:coreProperties>
</file>